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bc82a84ac64368" /><Relationship Type="http://schemas.openxmlformats.org/officeDocument/2006/relationships/extended-properties" Target="/docProps/app.xml" Id="Rec66adda08e0410c" /><Relationship Type="http://schemas.openxmlformats.org/officeDocument/2006/relationships/officeDocument" Target="/ppt/presentation.xml" Id="Re088a2f4f29248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66063e27e645fc"/>
  </p:sldMasterIdLst>
  <p:notesMasterIdLst>
    <p:notesMasterId xmlns:r="http://schemas.openxmlformats.org/officeDocument/2006/relationships" r:id="R65367f44af794357"/>
  </p:notesMasterIdLst>
  <p:sldIdLst>
    <p:sldId xmlns:r="http://schemas.openxmlformats.org/officeDocument/2006/relationships" id="256" r:id="R0c0dc55f11344447"/>
    <p:sldId xmlns:r="http://schemas.openxmlformats.org/officeDocument/2006/relationships" id="257" r:id="R12aff50b80a2472a"/>
    <p:sldId xmlns:r="http://schemas.openxmlformats.org/officeDocument/2006/relationships" id="258" r:id="R7f4e6486a77e4b05"/>
    <p:sldId xmlns:r="http://schemas.openxmlformats.org/officeDocument/2006/relationships" id="259" r:id="Rca6cdb9b95374ef8"/>
    <p:sldId xmlns:r="http://schemas.openxmlformats.org/officeDocument/2006/relationships" id="260" r:id="Rab7fcf6e084f4ed7"/>
    <p:sldId xmlns:r="http://schemas.openxmlformats.org/officeDocument/2006/relationships" id="261" r:id="Rf87a74f1af244dd4"/>
    <p:sldId xmlns:r="http://schemas.openxmlformats.org/officeDocument/2006/relationships" id="262" r:id="Re001dd92e5804bb5"/>
    <p:sldId xmlns:r="http://schemas.openxmlformats.org/officeDocument/2006/relationships" id="263" r:id="R9f4ce8b9cf634933"/>
    <p:sldId xmlns:r="http://schemas.openxmlformats.org/officeDocument/2006/relationships" id="264" r:id="R543ba5c8b40f49a6"/>
    <p:sldId xmlns:r="http://schemas.openxmlformats.org/officeDocument/2006/relationships" id="265" r:id="Radf058718c20403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4b759bbb244b5a" /><Relationship Type="http://schemas.openxmlformats.org/officeDocument/2006/relationships/slideMaster" Target="/ppt/slideMasters/slideMaster1.xml" Id="Rec66063e27e645fc" /><Relationship Type="http://schemas.openxmlformats.org/officeDocument/2006/relationships/notesMaster" Target="/ppt/notesMasters/notesMaster1.xml" Id="R65367f44af794357" /><Relationship Type="http://schemas.openxmlformats.org/officeDocument/2006/relationships/presProps" Target="/ppt/presProps.xml" Id="Rc76e53aa00b14e9a" /><Relationship Type="http://schemas.openxmlformats.org/officeDocument/2006/relationships/tableStyles" Target="/ppt/tableStyles.xml" Id="Red9183f771e74da0" /><Relationship Type="http://schemas.openxmlformats.org/officeDocument/2006/relationships/slide" Target="/ppt/slides/slide1.xml" Id="R0c0dc55f11344447" /><Relationship Type="http://schemas.openxmlformats.org/officeDocument/2006/relationships/slide" Target="/ppt/slides/slide2.xml" Id="R12aff50b80a2472a" /><Relationship Type="http://schemas.openxmlformats.org/officeDocument/2006/relationships/slide" Target="/ppt/slides/slide3.xml" Id="R7f4e6486a77e4b05" /><Relationship Type="http://schemas.openxmlformats.org/officeDocument/2006/relationships/slide" Target="/ppt/slides/slide4.xml" Id="Rca6cdb9b95374ef8" /><Relationship Type="http://schemas.openxmlformats.org/officeDocument/2006/relationships/slide" Target="/ppt/slides/slide5.xml" Id="Rab7fcf6e084f4ed7" /><Relationship Type="http://schemas.openxmlformats.org/officeDocument/2006/relationships/slide" Target="/ppt/slides/slide6.xml" Id="Rf87a74f1af244dd4" /><Relationship Type="http://schemas.openxmlformats.org/officeDocument/2006/relationships/slide" Target="/ppt/slides/slide7.xml" Id="Re001dd92e5804bb5" /><Relationship Type="http://schemas.openxmlformats.org/officeDocument/2006/relationships/slide" Target="/ppt/slides/slide8.xml" Id="R9f4ce8b9cf634933" /><Relationship Type="http://schemas.openxmlformats.org/officeDocument/2006/relationships/slide" Target="/ppt/slides/slide9.xml" Id="R543ba5c8b40f49a6" /><Relationship Type="http://schemas.openxmlformats.org/officeDocument/2006/relationships/slide" Target="/ppt/slides/slide10.xml" Id="Radf058718c2040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01f0c7eb2a43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f92b53475a479e" /><Relationship Type="http://schemas.openxmlformats.org/officeDocument/2006/relationships/notesMaster" Target="/ppt/notesMasters/notesMaster1.xml" Id="Rb382a5f0441e49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998c4fad9f4ee3" /><Relationship Type="http://schemas.openxmlformats.org/officeDocument/2006/relationships/notesMaster" Target="/ppt/notesMasters/notesMaster1.xml" Id="R18211b53807e48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fa0e1566d04fb1" /><Relationship Type="http://schemas.openxmlformats.org/officeDocument/2006/relationships/notesMaster" Target="/ppt/notesMasters/notesMaster1.xml" Id="R8fa7304f6c4345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748a81dd864e95" /><Relationship Type="http://schemas.openxmlformats.org/officeDocument/2006/relationships/notesMaster" Target="/ppt/notesMasters/notesMaster1.xml" Id="R1127ef35088943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acbcff9ae54f3b" /><Relationship Type="http://schemas.openxmlformats.org/officeDocument/2006/relationships/notesMaster" Target="/ppt/notesMasters/notesMaster1.xml" Id="R61a48a4dc37e47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da6d1330614bec" /><Relationship Type="http://schemas.openxmlformats.org/officeDocument/2006/relationships/notesMaster" Target="/ppt/notesMasters/notesMaster1.xml" Id="R332ccd733d9047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9c535c10dd40fe" /><Relationship Type="http://schemas.openxmlformats.org/officeDocument/2006/relationships/notesMaster" Target="/ppt/notesMasters/notesMaster1.xml" Id="Rd0b233ef43ab4e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e843f2e6db45a1" /><Relationship Type="http://schemas.openxmlformats.org/officeDocument/2006/relationships/notesMaster" Target="/ppt/notesMasters/notesMaster1.xml" Id="R247450611fe946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76566798be4505" /><Relationship Type="http://schemas.openxmlformats.org/officeDocument/2006/relationships/notesMaster" Target="/ppt/notesMasters/notesMaster1.xml" Id="R92f85c39967f44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5e4a60bf794103" /><Relationship Type="http://schemas.openxmlformats.org/officeDocument/2006/relationships/notesMaster" Target="/ppt/notesMasters/notesMaster1.xml" Id="R82dbb33f886e4e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23830c48b84f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70bc024e204b4f" /><Relationship Type="http://schemas.openxmlformats.org/officeDocument/2006/relationships/slideLayout" Target="/ppt/slideLayouts/slideLayout1.xml" Id="Ree5298560d6140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5298560d6140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3438231f44d2f" /><Relationship Type="http://schemas.openxmlformats.org/officeDocument/2006/relationships/image" Target="/ppt/media/image.png" Id="Rdcf52209dac8422d" /><Relationship Type="http://schemas.openxmlformats.org/officeDocument/2006/relationships/notesSlide" Target="/ppt/notesSlides/notesSlide1.xml" Id="R4b23c91e5fd34e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8f2f927934db6" /><Relationship Type="http://schemas.openxmlformats.org/officeDocument/2006/relationships/notesSlide" Target="/ppt/notesSlides/notesSlide2.xml" Id="Rbd433c4aeacb4d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ea89a2cbc4d56" /><Relationship Type="http://schemas.openxmlformats.org/officeDocument/2006/relationships/notesSlide" Target="/ppt/notesSlides/notesSlide3.xml" Id="Rc6840093f7e14d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b7b31aef04b34" /><Relationship Type="http://schemas.openxmlformats.org/officeDocument/2006/relationships/notesSlide" Target="/ppt/notesSlides/notesSlide4.xml" Id="R5d8b1f78d50241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fe525307f432a" /><Relationship Type="http://schemas.openxmlformats.org/officeDocument/2006/relationships/image" Target="/ppt/media/image.jpeg" Id="Rada41801ea75460a" /><Relationship Type="http://schemas.openxmlformats.org/officeDocument/2006/relationships/notesSlide" Target="/ppt/notesSlides/notesSlide5.xml" Id="Rdbfc44fc73b54d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388a781114dcc" /><Relationship Type="http://schemas.openxmlformats.org/officeDocument/2006/relationships/notesSlide" Target="/ppt/notesSlides/notesSlide6.xml" Id="Rd38d17df5a034a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953e2d85748ef" /><Relationship Type="http://schemas.openxmlformats.org/officeDocument/2006/relationships/notesSlide" Target="/ppt/notesSlides/notesSlide7.xml" Id="R77218db862d642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02cc4c5574ad5" /><Relationship Type="http://schemas.openxmlformats.org/officeDocument/2006/relationships/notesSlide" Target="/ppt/notesSlides/notesSlide8.xml" Id="R4f90057518af4f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3bfaaa22e4c67" /><Relationship Type="http://schemas.openxmlformats.org/officeDocument/2006/relationships/notesSlide" Target="/ppt/notesSlides/notesSlide9.xml" Id="R5d870e433e4643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4e5631a7c4994" /><Relationship Type="http://schemas.openxmlformats.org/officeDocument/2006/relationships/notesSlide" Target="/ppt/notesSlides/notesSlide10.xml" Id="Rf6d6a5e9f28e48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EB4E97-D692-4434-A367-D913BA64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52209dac8422d"/>
          <a:srcRect xmlns:a="http://schemas.openxmlformats.org/drawingml/2006/main" l="9416" t="0" r="94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550" y="495300"/>
            <a:ext cx="4762500" cy="58674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C02E0-1416-4EED-A3B4-F26908C9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1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6A574-6095-463F-91E6-32F540DF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2C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5A6F8-36FF-49C3-9B73-144DA37D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571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B8AE"/>
                </a:solidFill>
                <a:latin typeface="Arial"/>
                <a:ea typeface="Arial"/>
                <a:cs typeface="Arial"/>
              </a:defRPr>
            </a:pPr>
            <a:r>
              <a:t>ENTERPRISE CASE &amp; HISTORICAL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C09FF-805C-4526-9AB0-5D930564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58102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ECHO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A5A93-BA77-4F1E-A0D9-BAFF18D3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5810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Research before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D9D1C-4BE0-490E-9B3A-A9804B95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5619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Find the right path before creating, routing, or duplicating 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27488-9FEE-4DF5-A628-B38AD40D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4835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Pitch for a focused operational pilot</a:t>
            </a:r>
          </a:p>
        </p:txBody>
      </p:sp>
    </p:spTree>
    <p:extLst>
      <p:ext uri="{BB962C8B-B14F-4D97-AF65-F5344CB8AC3E}">
        <p14:creationId xmlns:p14="http://schemas.microsoft.com/office/powerpoint/2010/main" val="4580634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AC1DF6-0DDB-4E63-AFCD-A155D977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ECHO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0977E-B9C1-47AC-8C06-B3CACD04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45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58327-9091-4F72-84A9-8F26B018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Ticket volume is often a knowledge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A5518-E33F-4D73-B39D-6C1EB85B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549F9-428F-46AE-8B50-184D7FED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0668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Teams create work when the answer already exists—but is buried across systems or never became a ticket.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5D237-5EFF-45DC-B253-56EAC163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542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30D13A-F697-4084-BF81-C6543A8A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What happens 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B941F-C119-4219-864F-FC62C355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46672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• Search Jira, docs, and release notes separately
• Miss fixes completed outside the ticket process
• Open duplicate or avoidable tickets
• Escalate before the available history is understood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DCA88-B1CD-4643-B3A7-63C87DD1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55816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8668F-E09A-4866-AC2B-653FCDAE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57500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What ECHO changes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38BD6-3718-48B8-85C1-14991375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24250"/>
            <a:ext cx="47625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• Begin with one research question
• Compare ticket, documentation, release, and operational history
• Surface evidence and confidence together
• Recommend the safest next action before work is created</a:t>
            </a:r>
          </a:p>
        </p:txBody>
      </p:sp>
    </p:spTree>
    <p:extLst>
      <p:ext uri="{BB962C8B-B14F-4D97-AF65-F5344CB8AC3E}">
        <p14:creationId xmlns:p14="http://schemas.microsoft.com/office/powerpoint/2010/main" val="1784639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9CE842-4BE3-47D7-B47C-A6FF5730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ECHO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C936E-C1A0-4AAA-B861-11B5E5EB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45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895B7-6AF0-4AFF-BFF0-DA9DCCEA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Four histories become one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D2722-637D-4178-A3A9-35F40F70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512C1-753B-4805-A2E3-098CF13B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0668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Each source answers a different part of the investigation.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C8352-759B-4814-AE6C-407D687D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55816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2C429-16A3-4C13-8494-0CAE9B7D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CC366-3BA8-4E5B-BBFB-F21BAD58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Jira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C93539-0B53-4BEC-BA87-1BD4B672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476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Has this issue already been reported, linked, fixed, or left unresolved?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0AC72-22E6-407A-B122-9B6F7B7E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38400"/>
            <a:ext cx="55816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CDDAB-A484-4077-B218-2C57B0F6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384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2C9532-B0DF-43FE-94DB-D4EF6B67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86050"/>
            <a:ext cx="476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Confluence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5FC0CC-79A0-4DC8-8C23-F291DD36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00400"/>
            <a:ext cx="476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Is there a runbook, workaround, support article, or documentation gap?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61EC5C-8923-4C69-896E-46254F15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55816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7F6638-F218-4789-8C35-5A43608D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C10543-816D-46B8-BDF9-7DE05884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1525"/>
            <a:ext cx="476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Release Notes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1373FE-571B-48C5-AD59-A52C3350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476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Which version introduced, fixed, patched, or documented the behavior?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E44A41-F10A-49D7-893A-C14868FF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33875"/>
            <a:ext cx="55816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FB12EF-32EB-4412-95BD-D535F3AA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33875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1C470C-19AF-46EA-AF0D-442BA62D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81525"/>
            <a:ext cx="476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Momentum Logs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0E4C6C-5DFE-424E-8F5E-E760F865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95875"/>
            <a:ext cx="476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What action actually resolved the symptom—even when no ticket was created?</a:t>
            </a:r>
          </a:p>
        </p:txBody>
      </p:sp>
    </p:spTree>
    <p:extLst>
      <p:ext uri="{BB962C8B-B14F-4D97-AF65-F5344CB8AC3E}">
        <p14:creationId xmlns:p14="http://schemas.microsoft.com/office/powerpoint/2010/main" val="13921472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34322A-35AA-40CB-ACA0-FA463AD8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ECHO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0EB74-3C11-41B5-8715-DBEC98C3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45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95C46-C4FE-4D01-9EE0-6D95A761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Answer the question before work is created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E4654-ADE2-49CF-A3C4-7648489C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2F8F7-1229-4602-A276-DBABBD72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685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8D4FD-DFFC-4108-8FC9-1EE0C021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F12CC-9CC7-4A72-A586-CFA28BC6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43200"/>
            <a:ext cx="4476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Paste a draft ticket, symptom, error, version, or incoming request.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FA714-B3BE-43C1-95E2-A9E9CBB7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68F8A9-1FD4-4F75-BAC3-7BB252FE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33600"/>
            <a:ext cx="685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811BC-ACEE-4FD4-9B58-AD30C1EB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717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Retrieve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26CF7-A58E-4325-ABBD-8EB4B66E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43200"/>
            <a:ext cx="4476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Search the selected histories and bring relevant evidence into one 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BFC27-E4FB-4FCF-943E-19D53C73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1000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B909F4-72D0-4FBC-9527-551134EA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685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DCC50-AD1F-4B5F-97D1-B31323B8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1005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Assess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A56017-0584-413D-8FAB-D4AB3E10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81550"/>
            <a:ext cx="4476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Classify the issue, explain confidence, and expose uncertainty.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F1A70-0A22-4758-81AB-7AC166DF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483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116809-912C-459C-84B4-D8F2EC62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71950"/>
            <a:ext cx="685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B8AE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9E87AD-ED49-4311-8E58-27F4BEF4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1005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Recommend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063729-8FE1-4C0C-B6F9-474F71DE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81550"/>
            <a:ext cx="4476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Link, resolve, self-serve, document, route, escalate—or create a ticket.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99A8E2-9E25-49A1-BF02-045F508F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8483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193481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BF5925-0F39-4D69-A0D9-09CE61D3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90700"/>
            <a:ext cx="68389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41801ea75460a"/>
          <a:srcRect xmlns:a="http://schemas.openxmlformats.org/drawingml/2006/main" l="0" t="365" r="0" b="3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1885950"/>
            <a:ext cx="664845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E015E-5F54-494B-AF3A-2B024D60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ECHO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AB403-6BB1-48AE-9143-D4E2C8CD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45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57E64-89F0-4E57-96BF-BB762CBE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The prototype now has a live local 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156B6-8AE8-4649-BAE5-5E62B678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0CC7A-B5F4-4CC1-B53C-885779D0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810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B8AE"/>
                </a:solidFill>
                <a:latin typeface="Arial"/>
                <a:ea typeface="Arial"/>
                <a:cs typeface="Arial"/>
              </a:defRPr>
            </a:pPr>
            <a:r>
              <a:t>Live 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8DA33-A8B5-45F6-AE19-7D2BB338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40005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qwen2.5:3b through Ollama
Model-generated classifications, confidence, summaries, recommendations, and follow-up answers
Local processing with no cloud API key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B9D20-AADD-44D2-8837-47351B0E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400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A251B-BEFF-4CD3-89FA-C7B1AB64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95950"/>
            <a:ext cx="3600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1937"/>
                </a:solidFill>
                <a:latin typeface="Arial"/>
                <a:ea typeface="Arial"/>
                <a:cs typeface="Arial"/>
              </a:defRPr>
            </a:pPr>
            <a:r>
              <a:t>Source evidence is still prototype data; live connectors come next.</a:t>
            </a:r>
          </a:p>
        </p:txBody>
      </p:sp>
    </p:spTree>
    <p:extLst>
      <p:ext uri="{BB962C8B-B14F-4D97-AF65-F5344CB8AC3E}">
        <p14:creationId xmlns:p14="http://schemas.microsoft.com/office/powerpoint/2010/main" val="19015530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8E39E5-5492-43AE-A3DA-02D3A2A3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ECHO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9DB84-7D6D-4475-8C55-E037D728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45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79272-DAE2-4031-AA2A-A13424B6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Momentum reveals the history tickets miss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7A219-3C61-4428-803C-36C458A0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463A7-D278-4BE4-A1EF-38813268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0668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Operational logs can show how work was resolved when no Jira record exists.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78BC0-BBDF-41AB-B2A6-18C43F0B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C0C8F-5F3E-47A6-9EF3-46D0A190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90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596D9D-244F-48AA-AA1D-C3CEBE42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90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79FD5-ABF0-4DC8-B1D5-6D51C6F9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90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4BCA5-0807-40FF-B16F-914003CD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1714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7C5E49-DD3C-4E4E-B1AB-045FD654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2381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A completed action restored service without creating a ticket.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5E24BF-4F2F-4CC9-8B02-BA5C0970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24150"/>
            <a:ext cx="1714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Validate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EEB52-CE48-4BC2-82EF-22504A82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23812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Confirm approval, permissions, risk, repeatability, and matching conditions.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A0AA0A-5779-4A31-B579-82ADD281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1714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Decide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5D20F9-A01C-4C58-BED6-83BC1588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43350"/>
            <a:ext cx="27622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Self-serve when safe. Otherwise review, document, route, or create a ticket.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62F737-7C90-4AC7-8285-A6B8DD20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410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AC07FC-13BF-4F52-B3A5-C79CAC9C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8763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Guardrail: logs show what someone did—not automatically what everyone should do.</a:t>
            </a:r>
          </a:p>
        </p:txBody>
      </p:sp>
    </p:spTree>
    <p:extLst>
      <p:ext uri="{BB962C8B-B14F-4D97-AF65-F5344CB8AC3E}">
        <p14:creationId xmlns:p14="http://schemas.microsoft.com/office/powerpoint/2010/main" val="2515241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A491FC-DCDF-45E9-8C74-3966D6D6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ECHO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89230-A0FB-489C-8D6F-CE66F2F8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45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D4859-85DA-4102-AB9C-1AB25816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Guardrails keep speed from becoming guesswork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9EB1D-53CE-4E7B-9B70-1E4B0219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14F64-C952-4DF6-A50F-653845D9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5581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0ECBC-9AF0-44F2-87E0-DB056681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5238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Evidence stays visible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F6DA7-CE25-4094-86E0-8D05B4F9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52387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Every conclusion remains tied to source records, IDs, or documented excerpts.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A616C-067D-46D9-B482-ADA198A2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71700"/>
            <a:ext cx="5581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CD53FE-3C65-475F-A790-072990D3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38400"/>
            <a:ext cx="5238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Permissions still matter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55C14-634F-47EC-B0DE-759F03B9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48000"/>
            <a:ext cx="52387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A successful past action is not recommended when the current user lacks approval or access.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E6880-7992-4373-B28D-F8E2A3F1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5581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6456B9-C04D-42A5-9654-51CA9D7A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5238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No-ticket is conditional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A17AB8-3F19-4812-85E7-CF725976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52387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Self-service requires an approved, low-risk, repeatable procedure with matching conditions.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A60849-9552-4329-9701-FF0FE55F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29100"/>
            <a:ext cx="5581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C640A6-4CCC-4068-A07F-C96BD52D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95800"/>
            <a:ext cx="5238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Analysts retain ownership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4F6D66-9630-4F50-97BA-49FCFBC3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05400"/>
            <a:ext cx="52387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ECHO narrows the path; people make the final operational decision.</a:t>
            </a:r>
          </a:p>
        </p:txBody>
      </p:sp>
    </p:spTree>
    <p:extLst>
      <p:ext uri="{BB962C8B-B14F-4D97-AF65-F5344CB8AC3E}">
        <p14:creationId xmlns:p14="http://schemas.microsoft.com/office/powerpoint/2010/main" val="406379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C65A26-393F-402E-9FD9-8C32C5AA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ECHO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3CFFD-C952-4323-8C72-A50E1FE8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45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6DD95-B98D-49E0-B3EF-DABB78DE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Start local. Expand by connector.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0F9BC-3DA5-4810-9F08-AD2A7FA5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F7A9D-4C36-4C46-88F8-812C0602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0668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The architecture separates private source access from the intelligence and decision layers.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267AC-CEF7-4231-A832-345F50C3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8949B-E956-41E2-97AD-5673C9E0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76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SOURCE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4B0F2-7FB3-449E-8524-1C33E2E7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27622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Jira cases
Confluence runbooks
Release notes
Momentum logs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2C725A-C67E-4270-A9F6-FB13FAF8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5270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D2AAA-1875-4AE7-84FC-237DF7D3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19400"/>
            <a:ext cx="276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LOCAL INTELLIGENCE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5DFB7-4BF8-45C6-A268-263447FC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29000"/>
            <a:ext cx="27622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Search orchestration
Ranking and classification
Ollama model
Evidence-aware prompts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A59405-962B-4D9E-943E-E15AA739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5270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D4ECD-C95F-45E3-A80A-946476A0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19400"/>
            <a:ext cx="276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DECISION EXPERIENCE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28CCE3-772C-4412-825D-06D677C0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29000"/>
            <a:ext cx="27622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Related history
Confidence and rationale
Recommended next action
Follow-up questions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FE06B-1818-4EF2-9120-40A0CBE6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38550"/>
            <a:ext cx="381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88A611-1A44-4904-B08B-C3541A43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38550"/>
            <a:ext cx="381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6BE3D4-4950-47BE-92E4-DBC24EC4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48350"/>
            <a:ext cx="10668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Current state: intelligence layer live; source connectors remain to be integrated.</a:t>
            </a:r>
          </a:p>
        </p:txBody>
      </p:sp>
    </p:spTree>
    <p:extLst>
      <p:ext uri="{BB962C8B-B14F-4D97-AF65-F5344CB8AC3E}">
        <p14:creationId xmlns:p14="http://schemas.microsoft.com/office/powerpoint/2010/main" val="3779825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5FBFAD-4318-46A5-A1E0-7B6A6E4A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ECHO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54E03-0BCA-47A7-9E55-63CFBCD0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45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31718-1933-490C-8F14-EE83E136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Prove value with one focused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47D1D-E465-4FF8-B339-CDAE8CF5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9145B9-2D22-4C4B-97C2-87A3E5E9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C2051-BFFF-4CAC-9DC2-B245240A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3486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8E0CC-1449-4918-8D93-DE4DB921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79B2A-97AA-4A35-A1C1-0ABEA66E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952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Working prototype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46F9E-6CAE-4815-A5EC-F09987A1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28956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Live local AI
Four-source experience
Momentum no-ticket logic
Evidence and safety guardrails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B2AFD-2962-41C8-8438-D8CD6165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91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B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4DE5DE-32C3-4DFC-B029-09BF72C8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24050"/>
            <a:ext cx="3486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F930E-8E7F-4192-A316-A80608A9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717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41691-FD21-4B17-8E3C-374ACAC2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86050"/>
            <a:ext cx="2952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87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Connect one workflow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C835E-B583-4FDF-AA6B-C4E35863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62350"/>
            <a:ext cx="28956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Choose one support team
Integrate one source path
Test real investigations
Capture analyst feedback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68C2ED-923E-40FF-B90D-7B9873DF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91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E355D-541E-46EF-9D85-72EDE87D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24050"/>
            <a:ext cx="3486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79B2AF-AE3F-4C41-A952-3B60FBE4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717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SCALE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9A5A1-BC33-4BE9-A433-1716684B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86050"/>
            <a:ext cx="2952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838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Expand from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BCDC57-660F-4ABD-94EB-1F577E69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62350"/>
            <a:ext cx="28956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Add prioritized connectors
Formalize runbook candidates
Tune ranking and prompts
Broaden approved use cases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89E208-44A5-45DD-8D98-2980DF26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391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B1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933116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306B0F-DB61-4A51-BDE0-7CA313C1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ECHO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C16A2-AF95-4D6E-8B8C-F6F14D49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001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Approve one focused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BED30-3226-47E9-8982-E41BCE12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8763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Choose one team, one Momentum log path, and one ticket category.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2FCE2-DB5F-4A90-AB81-B9915B42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11391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63438-0998-4F97-911B-4E640828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42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Measure what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41BFD-F2B1-40DC-BAD9-8770530C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3905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E596B"/>
                </a:solidFill>
                <a:latin typeface="Arial"/>
                <a:ea typeface="Arial"/>
                <a:cs typeface="Arial"/>
              </a:defRPr>
            </a:pPr>
            <a:r>
              <a:t>Research time
Avoided duplicate work
Safe no-ticket resolutions
Documentation gaps surfaced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62F44-3730-488F-9671-35B3EF0A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5600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76197-EA8A-44A0-B334-E6957A39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38650"/>
            <a:ext cx="4572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Decision requested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45326-DDB0-4BC6-9BF5-851E6018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48250"/>
            <a:ext cx="4762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478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0B12"/>
                </a:solidFill>
                <a:latin typeface="Arial"/>
                <a:ea typeface="Arial"/>
                <a:cs typeface="Arial"/>
              </a:defRPr>
            </a:pPr>
            <a:r>
              <a:t>Authorize the pilot workflow and the minimum read-only access needed to test it.</a:t>
            </a:r>
          </a:p>
        </p:txBody>
      </p:sp>
    </p:spTree>
    <p:extLst>
      <p:ext uri="{BB962C8B-B14F-4D97-AF65-F5344CB8AC3E}">
        <p14:creationId xmlns:p14="http://schemas.microsoft.com/office/powerpoint/2010/main" val="10760123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2026-07-14T05:01:40.9200000Z</dcterms:created>
  <dcterms:modified xsi:type="dcterms:W3CDTF">2026-07-14T05:01:40.9200000Z</dcterms:modified>
</coreProperties>
</file>